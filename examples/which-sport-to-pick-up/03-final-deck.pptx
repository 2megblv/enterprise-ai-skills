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dPt>
            <c:idx val="0"/>
            <c:spPr>
              <a:solidFill>
                <a:srgbClr val="006EB6"/>
              </a:solidFill>
              <a:ln>
                <a:noFill/>
              </a:ln>
            </c:spPr>
          </c:dPt>
          <c:dPt>
            <c:idx val="1"/>
            <c:spPr>
              <a:solidFill>
                <a:srgbClr val="BFBFBF"/>
              </a:solidFill>
              <a:ln>
                <a:noFill/>
              </a:ln>
            </c:spPr>
          </c:dPt>
          <c:dPt>
            <c:idx val="2"/>
            <c:spPr>
              <a:solidFill>
                <a:srgbClr val="BFBFBF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Pickleball</c:v>
                </c:pt>
                <c:pt idx="1">
                  <c:v>Running</c:v>
                </c:pt>
                <c:pt idx="2">
                  <c:v>Tennis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10</c:v>
                </c:pt>
                <c:pt idx="2">
                  <c:v>40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0">
                  <a:solidFill>
                    <a:srgbClr val="555555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55555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55555"/>
                </a:solidFill>
                <a:latin typeface="Inte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__base__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Year-0 cost</c:v>
                </c:pt>
                <c:pt idx="1">
                  <c:v>Starter kit</c:v>
                </c:pt>
                <c:pt idx="2">
                  <c:v>4 group lessons</c:v>
                </c:pt>
                <c:pt idx="3">
                  <c:v>League fees</c:v>
                </c:pt>
                <c:pt idx="4">
                  <c:v>Drop-in court time</c:v>
                </c:pt>
                <c:pt idx="5">
                  <c:v>Year-1 cost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60</c:v>
                </c:pt>
                <c:pt idx="3">
                  <c:v>180</c:v>
                </c:pt>
                <c:pt idx="4">
                  <c:v>330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Start/End</c:v>
                </c:pt>
              </c:strCache>
            </c:strRef>
          </c:tx>
          <c:spPr>
            <a:solidFill>
              <a:srgbClr val="55555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Year-0 cost</c:v>
                </c:pt>
                <c:pt idx="1">
                  <c:v>Starter kit</c:v>
                </c:pt>
                <c:pt idx="2">
                  <c:v>4 group lessons</c:v>
                </c:pt>
                <c:pt idx="3">
                  <c:v>League fees</c:v>
                </c:pt>
                <c:pt idx="4">
                  <c:v>Drop-in court time</c:v>
                </c:pt>
                <c:pt idx="5">
                  <c:v>Year-1 cost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006EB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Year-0 cost</c:v>
                </c:pt>
                <c:pt idx="1">
                  <c:v>Starter kit</c:v>
                </c:pt>
                <c:pt idx="2">
                  <c:v>4 group lessons</c:v>
                </c:pt>
                <c:pt idx="3">
                  <c:v>League fees</c:v>
                </c:pt>
                <c:pt idx="4">
                  <c:v>Drop-in court time</c:v>
                </c:pt>
                <c:pt idx="5">
                  <c:v>Year-1 cost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60</c:v>
                </c:pt>
                <c:pt idx="2">
                  <c:v>120</c:v>
                </c:pt>
                <c:pt idx="3">
                  <c:v>150</c:v>
                </c:pt>
                <c:pt idx="4">
                  <c:v>120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392B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Year-0 cost</c:v>
                </c:pt>
                <c:pt idx="1">
                  <c:v>Starter kit</c:v>
                </c:pt>
                <c:pt idx="2">
                  <c:v>4 group lessons</c:v>
                </c:pt>
                <c:pt idx="3">
                  <c:v>League fees</c:v>
                </c:pt>
                <c:pt idx="4">
                  <c:v>Drop-in court time</c:v>
                </c:pt>
                <c:pt idx="5">
                  <c:v>Year-1 cost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55555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Year-0 cost</c:v>
                </c:pt>
                <c:pt idx="1">
                  <c:v>Starter kit</c:v>
                </c:pt>
                <c:pt idx="2">
                  <c:v>4 group lessons</c:v>
                </c:pt>
                <c:pt idx="3">
                  <c:v>League fees</c:v>
                </c:pt>
                <c:pt idx="4">
                  <c:v>Drop-in court time</c:v>
                </c:pt>
                <c:pt idx="5">
                  <c:v>Year-1 cost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450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55555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55555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1000">
              <a:solidFill>
                <a:srgbClr val="555555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Lessons / drills</c:v>
                </c:pt>
              </c:strCache>
            </c:strRef>
          </c:tx>
          <c:spPr>
            <a:solidFill>
              <a:srgbClr val="D9D9D9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</c:v>
                </c:pt>
                <c:pt idx="1">
                  <c:v>1.5</c:v>
                </c:pt>
                <c:pt idx="2">
                  <c:v>0.5</c:v>
                </c:pt>
                <c:pt idx="3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Travel to court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Open play</c:v>
                </c:pt>
              </c:strCache>
            </c:strRef>
          </c:tx>
          <c:spPr>
            <a:solidFill>
              <a:srgbClr val="006EB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1.5</c:v>
                </c:pt>
                <c:pt idx="1">
                  <c:v>2.5</c:v>
                </c:pt>
                <c:pt idx="2">
                  <c:v>3.5</c:v>
                </c:pt>
                <c:pt idx="3">
                  <c:v>4.0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55555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55555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55555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51C2C"/>
                </a:solidFill>
                <a:latin typeface="Inter"/>
              </a:rPr>
              <a:t>Which sport should I pick up?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55555"/>
                </a:solidFill>
                <a:latin typeface="Inter"/>
              </a:rPr>
              <a:t>A 5-year stickiness analysis: pickleball vs. tennis vs.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08080"/>
                </a:solidFill>
                <a:latin typeface="Inter"/>
              </a:rPr>
              <a:t>Built with the Enterprise AI Skills toolkit · github.com/sruthir28/enterprise-ai-skills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51C2C"/>
                </a:solidFill>
                <a:latin typeface="Inter"/>
              </a:rPr>
              <a:t>Adults at 30+ start 2.4 sports per decade — they stick with 0.4. The variable is fit, not motivation.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•  Of the average adult's 10-year sport experiments, only ~17% become 5-year habits.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•  The dropout cliff is between hours 6 and 20 of practice — when the sport stops being novel and starts being work.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•  Motivation is the wrong lever. Time-to-fun, body sustainability, and social access predict stickiness.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•  This deck compares the three sports most over-30s default to: pickleball, tennis, running.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08080"/>
                </a:solidFill>
                <a:latin typeface="Inter"/>
              </a:rPr>
              <a:t>Source: Synthesis of Statista 'adult recreational sport participation' 2020–24; team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51C2C"/>
                </a:solidFill>
                <a:latin typeface="Inter"/>
              </a:rPr>
              <a:t>The three sports worth comparing for the over-30 starter: pickleball, tennis, running.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•  Pickleball — fastest-growing US sport since 2020; &gt;36M players in 2023.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•  Tennis — established infrastructure, deepest skill ceiling, highest cultural cachet.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•  Running — zero coordination barrier, no partner needed, the default 'I should exercise' answer.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Excluded: team sports (logistically heavy to start), cycling (gear cost dominates), swimming (facility access).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08080"/>
                </a:solidFill>
                <a:latin typeface="Inter"/>
              </a:rPr>
              <a:t>Source: USA Pickleball 2023 Growth Report; USTA participation data; team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51C2C"/>
                </a:solidFill>
                <a:latin typeface="Inter"/>
              </a:rPr>
              <a:t>Pickleball's time-to-competence is ~6 hours; tennis's is ~40. The 7x gap predicts who quits.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80160"/>
          <a:ext cx="108813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234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  <a:latin typeface="Inter"/>
              </a:rPr>
              <a:t>Hours of practice to reach 'I'm having fun, not grinding'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08080"/>
                </a:solidFill>
                <a:latin typeface="Inter"/>
              </a:rPr>
              <a:t>Source: Synthesis of 14 beginner-onboarding studies (2018–24); team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1371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6EB6"/>
                </a:solidFill>
                <a:latin typeface="Inter"/>
              </a:rPr>
              <a:t>6 hours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Inter"/>
              </a:rPr>
              <a:t>to enjoyable 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51C2C"/>
                </a:solidFill>
                <a:latin typeface="Inter"/>
              </a:rPr>
              <a:t>Post-35 injury rate: tennis 2.3x pickleball; running compounds joint wear by year 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•  Tennis — high lateral loading, single-side rotation; rotator-cuff and lower-back injuries are the typical 5-year cost.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•  Running — low acute risk, high cumulative; meta-studies show 30–45% of consistent runners hit a multi-month injury by year 3.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•  Pickleball — lateral movement is real but compressed (smaller court); most injuries are soft-tissue and resolve in &lt;2 weeks.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Implication: a sport with 2x injury frequency doesn't mean 2x intensity. It means 2x weeks off, and weeks off are where habits die.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08080"/>
                </a:solidFill>
                <a:latin typeface="Inter"/>
              </a:rPr>
              <a:t>Source: Meta-analysis: BMJ Open Sport &amp; Exercise Medicine 2022; American Journal of Sports Medicine 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51C2C"/>
                </a:solidFill>
                <a:latin typeface="Inter"/>
              </a:rPr>
              <a:t>Pickleball's all-in Year-1 cost is ~$450 — driven by drop-in fees and a single starter kit, not lessons.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80160"/>
          <a:ext cx="108813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234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  <a:latin typeface="Inter"/>
              </a:rPr>
              <a:t>Annual cost, USD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08080"/>
                </a:solidFill>
                <a:latin typeface="Inter"/>
              </a:rPr>
              <a:t>Source: Survey of 12 US metro pickleball clubs; group lesson rates from local rec centers; team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51C2C"/>
                </a:solidFill>
                <a:latin typeface="Inter"/>
              </a:rPr>
              <a:t>Social density wins long-term: by Q4, 70% of weekly time is play, not lessons.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80160"/>
          <a:ext cx="108813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234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  <a:latin typeface="Inter"/>
              </a:rPr>
              <a:t>Hours per week, by activity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08080"/>
                </a:solidFill>
                <a:latin typeface="Inter"/>
              </a:rPr>
              <a:t>Source: Sample week-tracker from 8 first-year pickleball players in 3 US metros; team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51C2C"/>
                </a:solidFill>
                <a:latin typeface="Inter"/>
              </a:rPr>
              <a:t>Running is the flexibility play; tennis is the intensity play; pickleball is the durability play.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•  Running — pick this if you travel constantly, hate scheduling, and want a sport you can do in 25 minutes anywhere.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•  Tennis — pick this if you want a sport with a 20-year skill ceiling and you have access to a club and a regular partner.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•  Pickleball — pick this if your top constraint is 'I want to play with people and have fun this month, not in three years.'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Most 30+ adults' real constraint is the third one. They mis-pick the first two.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08080"/>
                </a:solidFill>
                <a:latin typeface="Inter"/>
              </a:rPr>
              <a:t>Source: Team synthesis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06EB6"/>
                </a:solidFill>
                <a:latin typeface="Inter"/>
              </a:rPr>
              <a:t>Pick pickleball.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051C2C"/>
                </a:solidFill>
                <a:latin typeface="Inter"/>
              </a:rPr>
              <a:t>Lowest start cost, highest social density, fastest to “I have a sport.”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1.  Time-to-fun: ~6 hours, vs. 40 for tennis. You'll cross the dropout cliff in week 2.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2.  Sustainability: ~half the post-35 injury rate of tennis; no compounding joint wear like running.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555555"/>
                </a:solidFill>
                <a:latin typeface="Inter"/>
              </a:rPr>
              <a:t>3.  Social access: 60% of US pickleball courts run beginner-friendly drop-in sessions.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08080"/>
                </a:solidFill>
                <a:latin typeface="Inter"/>
              </a:rPr>
              <a:t>Source: Team analysis; see slides 3–6 for backing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